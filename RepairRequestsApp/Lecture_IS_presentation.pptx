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53b537a5ad48b7" /><Relationship Type="http://schemas.openxmlformats.org/officeDocument/2006/relationships/extended-properties" Target="/docProps/app.xml" Id="Rd46152f358ad47d5" /><Relationship Type="http://schemas.openxmlformats.org/officeDocument/2006/relationships/officeDocument" Target="/ppt/presentation.xml" Id="R064ecd6c559a4c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f6b563223642e7"/>
  </p:sldMasterIdLst>
  <p:notesMasterIdLst>
    <p:notesMasterId xmlns:r="http://schemas.openxmlformats.org/officeDocument/2006/relationships" r:id="Rfada2fc1c4524028"/>
  </p:notesMasterIdLst>
  <p:sldIdLst>
    <p:sldId xmlns:r="http://schemas.openxmlformats.org/officeDocument/2006/relationships" id="256" r:id="Rf9acd8b3337b499a"/>
    <p:sldId xmlns:r="http://schemas.openxmlformats.org/officeDocument/2006/relationships" id="257" r:id="R6f50be05f81e4395"/>
    <p:sldId xmlns:r="http://schemas.openxmlformats.org/officeDocument/2006/relationships" id="258" r:id="R9c19aba1b1bc41dd"/>
    <p:sldId xmlns:r="http://schemas.openxmlformats.org/officeDocument/2006/relationships" id="259" r:id="R946daaca31f34421"/>
    <p:sldId xmlns:r="http://schemas.openxmlformats.org/officeDocument/2006/relationships" id="260" r:id="R83a135d1b6944bc4"/>
    <p:sldId xmlns:r="http://schemas.openxmlformats.org/officeDocument/2006/relationships" id="261" r:id="R1413d95c8a6a4571"/>
    <p:sldId xmlns:r="http://schemas.openxmlformats.org/officeDocument/2006/relationships" id="262" r:id="R089041e8624e44ca"/>
    <p:sldId xmlns:r="http://schemas.openxmlformats.org/officeDocument/2006/relationships" id="263" r:id="Raad3ecf00a524170"/>
    <p:sldId xmlns:r="http://schemas.openxmlformats.org/officeDocument/2006/relationships" id="264" r:id="R439ff7f8e46c489f"/>
    <p:sldId xmlns:r="http://schemas.openxmlformats.org/officeDocument/2006/relationships" id="265" r:id="R5f2ae31c7a2f43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883e1f66f946c9" /><Relationship Type="http://schemas.openxmlformats.org/officeDocument/2006/relationships/slideMaster" Target="/ppt/slideMasters/slideMaster1.xml" Id="R69f6b563223642e7" /><Relationship Type="http://schemas.openxmlformats.org/officeDocument/2006/relationships/notesMaster" Target="/ppt/notesMasters/notesMaster1.xml" Id="Rfada2fc1c4524028" /><Relationship Type="http://schemas.openxmlformats.org/officeDocument/2006/relationships/presProps" Target="/ppt/presProps.xml" Id="R81c239aa76eb42ce" /><Relationship Type="http://schemas.openxmlformats.org/officeDocument/2006/relationships/tableStyles" Target="/ppt/tableStyles.xml" Id="Ra6cbc301400f4699" /><Relationship Type="http://schemas.openxmlformats.org/officeDocument/2006/relationships/slide" Target="/ppt/slides/slide1.xml" Id="Rf9acd8b3337b499a" /><Relationship Type="http://schemas.openxmlformats.org/officeDocument/2006/relationships/slide" Target="/ppt/slides/slide2.xml" Id="R6f50be05f81e4395" /><Relationship Type="http://schemas.openxmlformats.org/officeDocument/2006/relationships/slide" Target="/ppt/slides/slide3.xml" Id="R9c19aba1b1bc41dd" /><Relationship Type="http://schemas.openxmlformats.org/officeDocument/2006/relationships/slide" Target="/ppt/slides/slide4.xml" Id="R946daaca31f34421" /><Relationship Type="http://schemas.openxmlformats.org/officeDocument/2006/relationships/slide" Target="/ppt/slides/slide5.xml" Id="R83a135d1b6944bc4" /><Relationship Type="http://schemas.openxmlformats.org/officeDocument/2006/relationships/slide" Target="/ppt/slides/slide6.xml" Id="R1413d95c8a6a4571" /><Relationship Type="http://schemas.openxmlformats.org/officeDocument/2006/relationships/slide" Target="/ppt/slides/slide7.xml" Id="R089041e8624e44ca" /><Relationship Type="http://schemas.openxmlformats.org/officeDocument/2006/relationships/slide" Target="/ppt/slides/slide8.xml" Id="Raad3ecf00a524170" /><Relationship Type="http://schemas.openxmlformats.org/officeDocument/2006/relationships/slide" Target="/ppt/slides/slide9.xml" Id="R439ff7f8e46c489f" /><Relationship Type="http://schemas.openxmlformats.org/officeDocument/2006/relationships/slide" Target="/ppt/slides/slide10.xml" Id="R5f2ae31c7a2f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2342a8a099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580c3614654d89" /><Relationship Type="http://schemas.openxmlformats.org/officeDocument/2006/relationships/notesMaster" Target="/ppt/notesMasters/notesMaster1.xml" Id="R6fb717cc4dd2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1690bb7dcc4cc4" /><Relationship Type="http://schemas.openxmlformats.org/officeDocument/2006/relationships/notesMaster" Target="/ppt/notesMasters/notesMaster1.xml" Id="Rf5cfccdeeb74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196fb3481d4c06" /><Relationship Type="http://schemas.openxmlformats.org/officeDocument/2006/relationships/notesMaster" Target="/ppt/notesMasters/notesMaster1.xml" Id="R8f7013aa43ce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70308a130459d" /><Relationship Type="http://schemas.openxmlformats.org/officeDocument/2006/relationships/notesMaster" Target="/ppt/notesMasters/notesMaster1.xml" Id="R77da858e081441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7fde490c714bc5" /><Relationship Type="http://schemas.openxmlformats.org/officeDocument/2006/relationships/notesMaster" Target="/ppt/notesMasters/notesMaster1.xml" Id="R1fd75ffee38748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de7960d1ed4dba" /><Relationship Type="http://schemas.openxmlformats.org/officeDocument/2006/relationships/notesMaster" Target="/ppt/notesMasters/notesMaster1.xml" Id="R0fb2850393df44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dc67b1999d412c" /><Relationship Type="http://schemas.openxmlformats.org/officeDocument/2006/relationships/notesMaster" Target="/ppt/notesMasters/notesMaster1.xml" Id="R97e502831a1942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509748fbe343c3" /><Relationship Type="http://schemas.openxmlformats.org/officeDocument/2006/relationships/notesMaster" Target="/ppt/notesMasters/notesMaster1.xml" Id="R076907b40b9f4c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dd9e0eb38b480f" /><Relationship Type="http://schemas.openxmlformats.org/officeDocument/2006/relationships/notesMaster" Target="/ppt/notesMasters/notesMaster1.xml" Id="Rad1183dfd9d446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fea1278300423c" /><Relationship Type="http://schemas.openxmlformats.org/officeDocument/2006/relationships/notesMaster" Target="/ppt/notesMasters/notesMaster1.xml" Id="R61e259ae5403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документ «Лекция 1-3.docx» и материалы практических работ 7–10 из «7-10(1) (1).docx».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«Лекция 1-3.docx», раздел о понятии и структуре проекта 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«Лекция 1-3.docx», описание функционального, организационного, информационного, программного и технического обеспечения.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«Лекция 1-3.docx», состав проектной документации.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«Лекция 1-3.docx», требования к эффективности проектных решений.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«Лекция 1-3.docx», раздел о надежности 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«Лекция 1-3.docx» и примеры отчета по предпроектному обследованию из «7-10(1) (1).docx».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практическая работа № 7 в документе «7-10(1) (1).docx».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план внедрения из практической работы № 8 документа «7-10(1) (1).docx».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практические работы № 9–10 документа «7-10(1) (1).docx». Экономический эффект в материалах описан качественно; числовые оценки не приводятся.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50be4e9f043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043a43fad40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ad75b47c24c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94aa291a74e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6113444a742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827e9621e46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CBFC20-ED50-4D3E-B463-5334018569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1FAFB2-9C9E-48E6-9CD8-728CF94D6A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73AFA3-B600-46C6-B6AC-1C9CD6855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8AFC05-96D2-428C-84BE-F642477C3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4A375E-4923-45C1-A21C-E855A32A52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874E90-B8AD-4C76-B02A-36D05134D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4222F5-FA66-47FF-96C3-867FAA8DE0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544701-CE41-4DD4-8738-993A5EF75F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1ADDB5-9537-44C9-AD47-3C7E84032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BB212E-BAA6-4704-BF88-F1DF928509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f5b92d3ea4424b" /><Relationship Type="http://schemas.openxmlformats.org/officeDocument/2006/relationships/slideLayout" Target="/ppt/slideLayouts/slideLayout1.xml" Id="R1b0fc2fdb1db4d1e" /><Relationship Type="http://schemas.openxmlformats.org/officeDocument/2006/relationships/slideLayout" Target="/ppt/slideLayouts/slideLayout2.xml" Id="R0573a27343f5432d" /><Relationship Type="http://schemas.openxmlformats.org/officeDocument/2006/relationships/slideLayout" Target="/ppt/slideLayouts/slideLayout3.xml" Id="R74474f2f10ee4eb6" /><Relationship Type="http://schemas.openxmlformats.org/officeDocument/2006/relationships/slideLayout" Target="/ppt/slideLayouts/slideLayout4.xml" Id="R9b647a7ee32a44d1" /><Relationship Type="http://schemas.openxmlformats.org/officeDocument/2006/relationships/slideLayout" Target="/ppt/slideLayouts/slideLayout5.xml" Id="R5b96dbf5e4c44963" /><Relationship Type="http://schemas.openxmlformats.org/officeDocument/2006/relationships/slideLayout" Target="/ppt/slideLayouts/slideLayout6.xml" Id="Rce9cd157d87a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fc2fdb1db4d1e"/>
    <p:sldLayoutId xmlns:r="http://schemas.openxmlformats.org/officeDocument/2006/relationships" id="2147483650" r:id="R0573a27343f5432d"/>
    <p:sldLayoutId xmlns:r="http://schemas.openxmlformats.org/officeDocument/2006/relationships" id="2147483651" r:id="R74474f2f10ee4eb6"/>
    <p:sldLayoutId xmlns:r="http://schemas.openxmlformats.org/officeDocument/2006/relationships" id="2147483652" r:id="R9b647a7ee32a44d1"/>
    <p:sldLayoutId xmlns:r="http://schemas.openxmlformats.org/officeDocument/2006/relationships" id="2147483653" r:id="R5b96dbf5e4c44963"/>
    <p:sldLayoutId xmlns:r="http://schemas.openxmlformats.org/officeDocument/2006/relationships" id="2147483654" r:id="Rce9cd157d87a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5219fcdd34a09" /><Relationship Type="http://schemas.openxmlformats.org/officeDocument/2006/relationships/notesSlide" Target="/ppt/notesSlides/notesSlide1.xml" Id="R173a20d38c8444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fed010e8943f8" /><Relationship Type="http://schemas.openxmlformats.org/officeDocument/2006/relationships/notesSlide" Target="/ppt/notesSlides/notesSlide2.xml" Id="R2a98c496215a49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75e439e8642d0" /><Relationship Type="http://schemas.openxmlformats.org/officeDocument/2006/relationships/notesSlide" Target="/ppt/notesSlides/notesSlide3.xml" Id="R9e3a517d1ee24f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f808a9a22460f" /><Relationship Type="http://schemas.openxmlformats.org/officeDocument/2006/relationships/notesSlide" Target="/ppt/notesSlides/notesSlide4.xml" Id="R0efbcca63fba46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86a2166a04e69" /><Relationship Type="http://schemas.openxmlformats.org/officeDocument/2006/relationships/notesSlide" Target="/ppt/notesSlides/notesSlide5.xml" Id="Re2c72b4ebed94c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0eb1015334c04" /><Relationship Type="http://schemas.openxmlformats.org/officeDocument/2006/relationships/notesSlide" Target="/ppt/notesSlides/notesSlide6.xml" Id="Rf35ea25b56d44e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fa27878a54bf7" /><Relationship Type="http://schemas.openxmlformats.org/officeDocument/2006/relationships/notesSlide" Target="/ppt/notesSlides/notesSlide7.xml" Id="Rc141d0ecaccf43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e0f6c3bac4690" /><Relationship Type="http://schemas.openxmlformats.org/officeDocument/2006/relationships/notesSlide" Target="/ppt/notesSlides/notesSlide8.xml" Id="Rf3eb916cc11942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8093631e24ea2" /><Relationship Type="http://schemas.openxmlformats.org/officeDocument/2006/relationships/notesSlide" Target="/ppt/notesSlides/notesSlide9.xml" Id="R00921fd46e7c4e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fdd088d3547f6" /><Relationship Type="http://schemas.openxmlformats.org/officeDocument/2006/relationships/notesSlide" Target="/ppt/notesSlides/notesSlide10.xml" Id="R96a0d79832ba4b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292F0-D659-4D99-82AD-F7DC48E6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Проектирование&#10;информаци">
            <a:extLst xmlns:a="http://schemas.openxmlformats.org/drawingml/2006/main">
              <a:ext uri="{FF2B5EF4-FFF2-40B4-BE49-F238E27FC236}">
                <a16:creationId xmlns:a16="http://schemas.microsoft.com/office/drawing/2014/main" id="{A3235008-AB01-4298-B097-C5DF468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Проектирование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информационных систем</a:t>
            </a:r>
          </a:p>
        </p:txBody>
      </p:sp>
      <p:sp>
        <p:nvSpPr>
          <p:cNvPr id="3" name="Структура проекта, требо">
            <a:extLst xmlns:a="http://schemas.openxmlformats.org/drawingml/2006/main">
              <a:ext uri="{FF2B5EF4-FFF2-40B4-BE49-F238E27FC236}">
                <a16:creationId xmlns:a16="http://schemas.microsoft.com/office/drawing/2014/main" id="{9703F880-2DD0-4049-8EB9-57B3D20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9D7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9D7E1"/>
                </a:solidFill>
                <a:latin typeface="Arial"/>
                <a:ea typeface="Arial"/>
                <a:cs typeface="Arial"/>
              </a:rPr>
              <a:t>Структура проекта, требования к качеству и внедрение ИС</a:t>
            </a:r>
          </a:p>
        </p:txBody>
      </p:sp>
      <p:sp>
        <p:nvSpPr>
          <p:cNvPr id="4" name="Учебная презентация по л">
            <a:extLst xmlns:a="http://schemas.openxmlformats.org/drawingml/2006/main">
              <a:ext uri="{FF2B5EF4-FFF2-40B4-BE49-F238E27FC236}">
                <a16:creationId xmlns:a16="http://schemas.microsoft.com/office/drawing/2014/main" id="{BE2EFFD1-3B0B-4AEC-B73E-5774F56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DB3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3C3"/>
                </a:solidFill>
                <a:latin typeface="Arial"/>
                <a:ea typeface="Arial"/>
                <a:cs typeface="Arial"/>
              </a:rPr>
              <a:t>Учебная презентация по лекционным материалам</a:t>
            </a:r>
          </a:p>
        </p:txBody>
      </p:sp>
    </p:spTree>
    <p:extLst>
      <p:ext uri="{BB962C8B-B14F-4D97-AF65-F5344CB8AC3E}">
        <p14:creationId xmlns:p14="http://schemas.microsoft.com/office/powerpoint/2010/main" val="1821078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нформационная система к">
            <a:extLst xmlns:a="http://schemas.openxmlformats.org/drawingml/2006/main">
              <a:ext uri="{FF2B5EF4-FFF2-40B4-BE49-F238E27FC236}">
                <a16:creationId xmlns:a16="http://schemas.microsoft.com/office/drawing/2014/main" id="{7AEF2DA9-F53B-4A32-ADD8-67AAFFC3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Информационная система как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00B2C-53AD-4AD7-98F3-D493A2B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ECE0CD5-C768-4791-A47B-5CCFA582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оект ИС — комплект док">
            <a:extLst xmlns:a="http://schemas.openxmlformats.org/drawingml/2006/main">
              <a:ext uri="{FF2B5EF4-FFF2-40B4-BE49-F238E27FC236}">
                <a16:creationId xmlns:a16="http://schemas.microsoft.com/office/drawing/2014/main" id="{4277B327-3C29-4EF4-89E2-CA107322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Проект ИС — комплект документации, описывающий решения по созданию и эксплуатации системы.</a:t>
            </a:r>
          </a:p>
        </p:txBody>
      </p:sp>
      <p:sp>
        <p:nvSpPr>
          <p:cNvPr id="5" name="Объект проектирования — ">
            <a:extLst xmlns:a="http://schemas.openxmlformats.org/drawingml/2006/main">
              <a:ext uri="{FF2B5EF4-FFF2-40B4-BE49-F238E27FC236}">
                <a16:creationId xmlns:a16="http://schemas.microsoft.com/office/drawing/2014/main" id="{5F9C8ED2-DE0C-4DE1-9468-AD15868C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00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Объект проектирования — отдельные элементы или комплексы функциональной части ИС.</a:t>
            </a:r>
          </a:p>
        </p:txBody>
      </p:sp>
      <p:sp>
        <p:nvSpPr>
          <p:cNvPr id="6" name="Проект соединяет функции">
            <a:extLst xmlns:a="http://schemas.openxmlformats.org/drawingml/2006/main">
              <a:ext uri="{FF2B5EF4-FFF2-40B4-BE49-F238E27FC236}">
                <a16:creationId xmlns:a16="http://schemas.microsoft.com/office/drawing/2014/main" id="{AAB8EC94-2D75-46C2-A09C-F738C9A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000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Проект соединяет функции организации, данные, пользователей, программные и технические средства.</a:t>
            </a:r>
          </a:p>
        </p:txBody>
      </p:sp>
      <p:sp>
        <p:nvSpPr>
          <p:cNvPr id="7" name="Документация помогает со">
            <a:extLst xmlns:a="http://schemas.openxmlformats.org/drawingml/2006/main">
              <a:ext uri="{FF2B5EF4-FFF2-40B4-BE49-F238E27FC236}">
                <a16:creationId xmlns:a16="http://schemas.microsoft.com/office/drawing/2014/main" id="{6BE6B39D-2F43-4702-ABB6-58DFE8C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000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Документация помогает согласовать требования до настройки и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964914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Структура обеспечивающих">
            <a:extLst xmlns:a="http://schemas.openxmlformats.org/drawingml/2006/main">
              <a:ext uri="{FF2B5EF4-FFF2-40B4-BE49-F238E27FC236}">
                <a16:creationId xmlns:a16="http://schemas.microsoft.com/office/drawing/2014/main" id="{115BD268-528E-4D57-BAD8-B9F67E4C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Структура обеспечивающих компонентов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9335E-BF6D-4C65-AC45-E19EB91C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FDA60B0-F9FD-41A5-9F09-58DFAB43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Функциональное">
            <a:extLst xmlns:a="http://schemas.openxmlformats.org/drawingml/2006/main">
              <a:ext uri="{FF2B5EF4-FFF2-40B4-BE49-F238E27FC236}">
                <a16:creationId xmlns:a16="http://schemas.microsoft.com/office/drawing/2014/main" id="{FDC04E3A-1B19-4EA0-8887-2AAFA5FA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Функциональное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70E82-8F67-467D-882A-880E1276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оддерживает виды деятел">
            <a:extLst xmlns:a="http://schemas.openxmlformats.org/drawingml/2006/main">
              <a:ext uri="{FF2B5EF4-FFF2-40B4-BE49-F238E27FC236}">
                <a16:creationId xmlns:a16="http://schemas.microsoft.com/office/drawing/2014/main" id="{A33DEFF2-A09E-4A40-A268-BA539A83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33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Поддерживает виды деятельности и задачи подразделений.</a:t>
            </a:r>
          </a:p>
        </p:txBody>
      </p:sp>
      <p:sp>
        <p:nvSpPr>
          <p:cNvPr id="7" name="Организационное">
            <a:extLst xmlns:a="http://schemas.openxmlformats.org/drawingml/2006/main">
              <a:ext uri="{FF2B5EF4-FFF2-40B4-BE49-F238E27FC236}">
                <a16:creationId xmlns:a16="http://schemas.microsoft.com/office/drawing/2014/main" id="{D418E5D0-B728-440D-AC45-01079CC0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38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Организационное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B93A9-2315-437F-96D7-AF14E32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Определяет структуру упр">
            <a:extLst xmlns:a="http://schemas.openxmlformats.org/drawingml/2006/main">
              <a:ext uri="{FF2B5EF4-FFF2-40B4-BE49-F238E27FC236}">
                <a16:creationId xmlns:a16="http://schemas.microsoft.com/office/drawing/2014/main" id="{F13803AA-7709-4495-87E4-3C2CA570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33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Определяет структуру управления и обязанности пользователей.</a:t>
            </a:r>
          </a:p>
        </p:txBody>
      </p:sp>
      <p:sp>
        <p:nvSpPr>
          <p:cNvPr id="10" name="Информационное">
            <a:extLst xmlns:a="http://schemas.openxmlformats.org/drawingml/2006/main">
              <a:ext uri="{FF2B5EF4-FFF2-40B4-BE49-F238E27FC236}">
                <a16:creationId xmlns:a16="http://schemas.microsoft.com/office/drawing/2014/main" id="{AE5860F0-2F72-466E-B8EF-A3240AE1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Информационное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12BF5-D206-4811-819E-3EE1F57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Включает классификаторы,">
            <a:extLst xmlns:a="http://schemas.openxmlformats.org/drawingml/2006/main">
              <a:ext uri="{FF2B5EF4-FFF2-40B4-BE49-F238E27FC236}">
                <a16:creationId xmlns:a16="http://schemas.microsoft.com/office/drawing/2014/main" id="{0E2433C6-C25A-4DAC-B102-C45E53D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Включает классификаторы, документы, базы данных и интерфейс.</a:t>
            </a:r>
          </a:p>
        </p:txBody>
      </p:sp>
      <p:sp>
        <p:nvSpPr>
          <p:cNvPr id="13" name="Программное и техническо">
            <a:extLst xmlns:a="http://schemas.openxmlformats.org/drawingml/2006/main">
              <a:ext uri="{FF2B5EF4-FFF2-40B4-BE49-F238E27FC236}">
                <a16:creationId xmlns:a16="http://schemas.microsoft.com/office/drawing/2014/main" id="{D3319BC1-99FF-4689-AF91-4DAFC904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38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Программное и техническое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DC01F-D59F-4408-B030-7A5027BD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О реализует методы обра">
            <a:extLst xmlns:a="http://schemas.openxmlformats.org/drawingml/2006/main">
              <a:ext uri="{FF2B5EF4-FFF2-40B4-BE49-F238E27FC236}">
                <a16:creationId xmlns:a16="http://schemas.microsoft.com/office/drawing/2014/main" id="{9DA02817-64AF-4C5B-A3C9-B3B4D82A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33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ПО реализует методы обработки; техника обеспечивает вычисления и связь.</a:t>
            </a:r>
          </a:p>
        </p:txBody>
      </p:sp>
      <p:sp>
        <p:nvSpPr>
          <p:cNvPr id="16" name="Качество проекта зависит">
            <a:extLst xmlns:a="http://schemas.openxmlformats.org/drawingml/2006/main">
              <a:ext uri="{FF2B5EF4-FFF2-40B4-BE49-F238E27FC236}">
                <a16:creationId xmlns:a16="http://schemas.microsoft.com/office/drawing/2014/main" id="{05796D57-E256-45EF-9CF9-459DADC2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Качество проекта зависит от согласованности всех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708595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Документы проекта ИС">
            <a:extLst xmlns:a="http://schemas.openxmlformats.org/drawingml/2006/main">
              <a:ext uri="{FF2B5EF4-FFF2-40B4-BE49-F238E27FC236}">
                <a16:creationId xmlns:a16="http://schemas.microsoft.com/office/drawing/2014/main" id="{68417D0F-5038-4744-B59D-CDEF0A3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Документы проекта ИС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69A8C-AEB7-4698-A92A-F1B2FC16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AA55CE46-6BCA-443E-A3AF-12B615C3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ТЭО">
            <a:extLst xmlns:a="http://schemas.openxmlformats.org/drawingml/2006/main">
              <a:ext uri="{FF2B5EF4-FFF2-40B4-BE49-F238E27FC236}">
                <a16:creationId xmlns:a16="http://schemas.microsoft.com/office/drawing/2014/main" id="{3760B389-103A-43C9-8775-3D882029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ТЭО</a:t>
            </a:r>
          </a:p>
        </p:txBody>
      </p:sp>
      <p:sp>
        <p:nvSpPr>
          <p:cNvPr id="5" name="Состав функциональных за">
            <a:extLst xmlns:a="http://schemas.openxmlformats.org/drawingml/2006/main">
              <a:ext uri="{FF2B5EF4-FFF2-40B4-BE49-F238E27FC236}">
                <a16:creationId xmlns:a16="http://schemas.microsoft.com/office/drawing/2014/main" id="{B48F63A1-3962-460E-B4EA-8D70FB8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668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Состав функциональных задач, требования к подсистемам, технологии и оценка эффективности.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EC27D-061C-4B96-A7B2-A05495C9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Техническое задание">
            <a:extLst xmlns:a="http://schemas.openxmlformats.org/drawingml/2006/main">
              <a:ext uri="{FF2B5EF4-FFF2-40B4-BE49-F238E27FC236}">
                <a16:creationId xmlns:a16="http://schemas.microsoft.com/office/drawing/2014/main" id="{0BC67476-3761-4046-A0E5-608866B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Техническое задание</a:t>
            </a:r>
          </a:p>
        </p:txBody>
      </p:sp>
      <p:sp>
        <p:nvSpPr>
          <p:cNvPr id="8" name="Фиксирует требования к ф">
            <a:extLst xmlns:a="http://schemas.openxmlformats.org/drawingml/2006/main">
              <a:ext uri="{FF2B5EF4-FFF2-40B4-BE49-F238E27FC236}">
                <a16:creationId xmlns:a16="http://schemas.microsoft.com/office/drawing/2014/main" id="{F6510410-BAAC-43A5-B35F-24B6042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Фиксирует требования к функциональной части и обеспечивающим подсистемам.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FA005-0285-496A-B4C5-D0244F17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Технический проект">
            <a:extLst xmlns:a="http://schemas.openxmlformats.org/drawingml/2006/main">
              <a:ext uri="{FF2B5EF4-FFF2-40B4-BE49-F238E27FC236}">
                <a16:creationId xmlns:a16="http://schemas.microsoft.com/office/drawing/2014/main" id="{820BE961-7676-496B-B371-C83A237D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Технический проект</a:t>
            </a:r>
          </a:p>
        </p:txBody>
      </p:sp>
      <p:sp>
        <p:nvSpPr>
          <p:cNvPr id="11" name="Описывает алгоритмы, дан">
            <a:extLst xmlns:a="http://schemas.openxmlformats.org/drawingml/2006/main">
              <a:ext uri="{FF2B5EF4-FFF2-40B4-BE49-F238E27FC236}">
                <a16:creationId xmlns:a16="http://schemas.microsoft.com/office/drawing/2014/main" id="{2FCE5F27-AC40-47E7-B0E1-7CAD92D8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Описывает алгоритмы, данные, организационные и технические решения.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975D7-B175-4D78-846C-AB90B653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Рабочий проект">
            <a:extLst xmlns:a="http://schemas.openxmlformats.org/drawingml/2006/main">
              <a:ext uri="{FF2B5EF4-FFF2-40B4-BE49-F238E27FC236}">
                <a16:creationId xmlns:a16="http://schemas.microsoft.com/office/drawing/2014/main" id="{082C53E6-D08A-46CE-AC34-B40D158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Рабочий проект</a:t>
            </a:r>
          </a:p>
        </p:txBody>
      </p:sp>
      <p:sp>
        <p:nvSpPr>
          <p:cNvPr id="14" name="Содержит программы, монт">
            <a:extLst xmlns:a="http://schemas.openxmlformats.org/drawingml/2006/main">
              <a:ext uri="{FF2B5EF4-FFF2-40B4-BE49-F238E27FC236}">
                <a16:creationId xmlns:a16="http://schemas.microsoft.com/office/drawing/2014/main" id="{234A0282-270D-48EA-B39A-326F87C6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Содержит программы, монтажные решения и инструкции для рабочих мест.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7D9AA-0E49-469E-8C53-5F255ED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297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Эффективность проектных ">
            <a:extLst xmlns:a="http://schemas.openxmlformats.org/drawingml/2006/main">
              <a:ext uri="{FF2B5EF4-FFF2-40B4-BE49-F238E27FC236}">
                <a16:creationId xmlns:a16="http://schemas.microsoft.com/office/drawing/2014/main" id="{801AA016-F232-472B-A92E-BBC4662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Эффективность проектных решений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4D36E-07C8-4BC2-93E6-0133E729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731A60E8-179D-441D-A874-3ABA911B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Эффективность показывает">
            <a:extLst xmlns:a="http://schemas.openxmlformats.org/drawingml/2006/main">
              <a:ext uri="{FF2B5EF4-FFF2-40B4-BE49-F238E27FC236}">
                <a16:creationId xmlns:a16="http://schemas.microsoft.com/office/drawing/2014/main" id="{4525934E-7B1E-4628-9C5E-D7B1776A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33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Эффективность показывает, насколько система соответствует своему назначению.</a:t>
            </a:r>
          </a:p>
        </p:txBody>
      </p:sp>
      <p:sp>
        <p:nvSpPr>
          <p:cNvPr id="5" name="Функциональная">
            <a:extLst xmlns:a="http://schemas.openxmlformats.org/drawingml/2006/main">
              <a:ext uri="{FF2B5EF4-FFF2-40B4-BE49-F238E27FC236}">
                <a16:creationId xmlns:a16="http://schemas.microsoft.com/office/drawing/2014/main" id="{BE93B774-96F8-4155-A835-8C381696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Функциональная</a:t>
            </a:r>
          </a:p>
        </p:txBody>
      </p:sp>
      <p:sp>
        <p:nvSpPr>
          <p:cNvPr id="6" name="Решает ли ИС нужные зада">
            <a:extLst xmlns:a="http://schemas.openxmlformats.org/drawingml/2006/main">
              <a:ext uri="{FF2B5EF4-FFF2-40B4-BE49-F238E27FC236}">
                <a16:creationId xmlns:a16="http://schemas.microsoft.com/office/drawing/2014/main" id="{3EC113E4-8303-4241-ABEB-088B34B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Решает ли ИС нужные задачи организации?</a:t>
            </a:r>
          </a:p>
        </p:txBody>
      </p:sp>
      <p:sp>
        <p:nvSpPr>
          <p:cNvPr id="7" name="Экономическая">
            <a:extLst xmlns:a="http://schemas.openxmlformats.org/drawingml/2006/main">
              <a:ext uri="{FF2B5EF4-FFF2-40B4-BE49-F238E27FC236}">
                <a16:creationId xmlns:a16="http://schemas.microsoft.com/office/drawing/2014/main" id="{94C88307-FB57-452B-A8FA-16AB4A0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Экономическая</a:t>
            </a:r>
          </a:p>
        </p:txBody>
      </p:sp>
      <p:sp>
        <p:nvSpPr>
          <p:cNvPr id="8" name="Превышают ли результаты ">
            <a:extLst xmlns:a="http://schemas.openxmlformats.org/drawingml/2006/main">
              <a:ext uri="{FF2B5EF4-FFF2-40B4-BE49-F238E27FC236}">
                <a16:creationId xmlns:a16="http://schemas.microsoft.com/office/drawing/2014/main" id="{539DF67D-B837-4EB8-BFF4-14ABBBB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Превышают ли результаты затраты и обеспечена ли требуемая рентабельность?</a:t>
            </a:r>
          </a:p>
        </p:txBody>
      </p:sp>
      <p:sp>
        <p:nvSpPr>
          <p:cNvPr id="9" name="Критерий задает направле">
            <a:extLst xmlns:a="http://schemas.openxmlformats.org/drawingml/2006/main">
              <a:ext uri="{FF2B5EF4-FFF2-40B4-BE49-F238E27FC236}">
                <a16:creationId xmlns:a16="http://schemas.microsoft.com/office/drawing/2014/main" id="{B3286E0E-FF00-4A16-BF10-D262FA36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Критерий задает направление оценки, показатели измеряют состояние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515926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Надежность и непрерывнос">
            <a:extLst xmlns:a="http://schemas.openxmlformats.org/drawingml/2006/main">
              <a:ext uri="{FF2B5EF4-FFF2-40B4-BE49-F238E27FC236}">
                <a16:creationId xmlns:a16="http://schemas.microsoft.com/office/drawing/2014/main" id="{A67A7315-BE5A-439E-99CF-C21B427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Надежность и непрерывность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BDF68-1078-49EE-91E4-6E249E82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0991401E-E96D-4B0B-B1C3-F2174DBF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Для современных ИС задан">
            <a:extLst xmlns:a="http://schemas.openxmlformats.org/drawingml/2006/main">
              <a:ext uri="{FF2B5EF4-FFF2-40B4-BE49-F238E27FC236}">
                <a16:creationId xmlns:a16="http://schemas.microsoft.com/office/drawing/2014/main" id="{9A90E471-872A-42E4-BC36-805FD337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Для современных ИС задан высокий уровень доступности: режим 24 × 365.</a:t>
            </a:r>
          </a:p>
        </p:txBody>
      </p:sp>
      <p:sp>
        <p:nvSpPr>
          <p:cNvPr id="5" name="Надежность проявляется в">
            <a:extLst xmlns:a="http://schemas.openxmlformats.org/drawingml/2006/main">
              <a:ext uri="{FF2B5EF4-FFF2-40B4-BE49-F238E27FC236}">
                <a16:creationId xmlns:a16="http://schemas.microsoft.com/office/drawing/2014/main" id="{22390DE3-7192-4AD4-89E1-11E3E707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Надежность проявляется в частоте отказов и сбоев.</a:t>
            </a:r>
          </a:p>
        </p:txBody>
      </p:sp>
      <p:sp>
        <p:nvSpPr>
          <p:cNvPr id="6" name="Тестирование помогает вы">
            <a:extLst xmlns:a="http://schemas.openxmlformats.org/drawingml/2006/main">
              <a:ext uri="{FF2B5EF4-FFF2-40B4-BE49-F238E27FC236}">
                <a16:creationId xmlns:a16="http://schemas.microsoft.com/office/drawing/2014/main" id="{777DCCFE-6960-42CF-97EE-BB012AA0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Тестирование помогает выявлять неисправности программных и технических средств.</a:t>
            </a:r>
          </a:p>
        </p:txBody>
      </p:sp>
      <p:sp>
        <p:nvSpPr>
          <p:cNvPr id="7" name="Работоспособность восста">
            <a:extLst xmlns:a="http://schemas.openxmlformats.org/drawingml/2006/main">
              <a:ext uri="{FF2B5EF4-FFF2-40B4-BE49-F238E27FC236}">
                <a16:creationId xmlns:a16="http://schemas.microsoft.com/office/drawing/2014/main" id="{02EB9BCD-8A96-46A4-82A0-AF44A062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Работоспособность восстанавливают ремонтом или заменой резервными элементами.</a:t>
            </a:r>
          </a:p>
        </p:txBody>
      </p:sp>
      <p:sp>
        <p:nvSpPr>
          <p:cNvPr id="8" name="Эксплуатационные требова">
            <a:extLst xmlns:a="http://schemas.openxmlformats.org/drawingml/2006/main">
              <a:ext uri="{FF2B5EF4-FFF2-40B4-BE49-F238E27FC236}">
                <a16:creationId xmlns:a16="http://schemas.microsoft.com/office/drawing/2014/main" id="{63AB9E8F-8A10-4C18-9270-8737A700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Эксплуатационные требования нужно учитывать на этапе проектирования.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728448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едпроектное обследован">
            <a:extLst xmlns:a="http://schemas.openxmlformats.org/drawingml/2006/main">
              <a:ext uri="{FF2B5EF4-FFF2-40B4-BE49-F238E27FC236}">
                <a16:creationId xmlns:a16="http://schemas.microsoft.com/office/drawing/2014/main" id="{73EF2D12-E09C-4B4A-8BB8-56E0E41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Предпроектное обследование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B796-DE84-4EBB-874E-E66685F2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306920FD-A91E-448C-A899-17135015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Обследование связывает ф">
            <a:extLst xmlns:a="http://schemas.openxmlformats.org/drawingml/2006/main">
              <a:ext uri="{FF2B5EF4-FFF2-40B4-BE49-F238E27FC236}">
                <a16:creationId xmlns:a16="http://schemas.microsoft.com/office/drawing/2014/main" id="{EEC9E3A8-0A78-4340-AA76-0D9FED64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Обследование связывает фактическую работу предприятия с требованиями к будущей ИС.</a:t>
            </a:r>
          </a:p>
        </p:txBody>
      </p:sp>
      <p:sp>
        <p:nvSpPr>
          <p:cNvPr id="5" name="Изучают структуру органи">
            <a:extLst xmlns:a="http://schemas.openxmlformats.org/drawingml/2006/main">
              <a:ext uri="{FF2B5EF4-FFF2-40B4-BE49-F238E27FC236}">
                <a16:creationId xmlns:a16="http://schemas.microsoft.com/office/drawing/2014/main" id="{01B9393E-BB6A-4A15-B87B-E94F55C4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Изучают структуру организации, бизнес-процессы и документооборот.</a:t>
            </a:r>
          </a:p>
        </p:txBody>
      </p:sp>
      <p:sp>
        <p:nvSpPr>
          <p:cNvPr id="6" name="Оценивают учетную полити">
            <a:extLst xmlns:a="http://schemas.openxmlformats.org/drawingml/2006/main">
              <a:ext uri="{FF2B5EF4-FFF2-40B4-BE49-F238E27FC236}">
                <a16:creationId xmlns:a16="http://schemas.microsoft.com/office/drawing/2014/main" id="{7758E08D-A389-4052-805F-19021571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Оценивают учетную политику, применяемые программы, оборудование и уровень автоматизации.</a:t>
            </a:r>
          </a:p>
        </p:txBody>
      </p:sp>
      <p:sp>
        <p:nvSpPr>
          <p:cNvPr id="7" name="Выявляют информационные ">
            <a:extLst xmlns:a="http://schemas.openxmlformats.org/drawingml/2006/main">
              <a:ext uri="{FF2B5EF4-FFF2-40B4-BE49-F238E27FC236}">
                <a16:creationId xmlns:a16="http://schemas.microsoft.com/office/drawing/2014/main" id="{7C69D628-1286-4C35-8C6E-8AE07E7B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Выявляют информационные связи, повторный ввод и потребности пользователей.</a:t>
            </a:r>
          </a:p>
        </p:txBody>
      </p:sp>
      <p:sp>
        <p:nvSpPr>
          <p:cNvPr id="8" name="Результат — состав подси">
            <a:extLst xmlns:a="http://schemas.openxmlformats.org/drawingml/2006/main">
              <a:ext uri="{FF2B5EF4-FFF2-40B4-BE49-F238E27FC236}">
                <a16:creationId xmlns:a16="http://schemas.microsoft.com/office/drawing/2014/main" id="{3AFDFB8F-EF15-4A5E-991A-712899BF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Результат — состав подсистем, требования к проекту и поэтапный план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109529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Внедрение по этапам">
            <a:extLst xmlns:a="http://schemas.openxmlformats.org/drawingml/2006/main">
              <a:ext uri="{FF2B5EF4-FFF2-40B4-BE49-F238E27FC236}">
                <a16:creationId xmlns:a16="http://schemas.microsoft.com/office/drawing/2014/main" id="{8F9991EF-8CD6-467D-A73B-B9871495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Внедрение по этапам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D79C3-CFB9-4036-AE1D-74FC7E91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8388455C-3291-470E-AAF8-6FABC9D5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30FF5A4E-CE83-459F-A6B0-191800BA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A84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Обследование">
            <a:extLst xmlns:a="http://schemas.openxmlformats.org/drawingml/2006/main">
              <a:ext uri="{FF2B5EF4-FFF2-40B4-BE49-F238E27FC236}">
                <a16:creationId xmlns:a16="http://schemas.microsoft.com/office/drawing/2014/main" id="{687425D4-5132-4F2C-99C8-C8FA3033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Обследование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8AC57-08A2-4C36-9755-479A33A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669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01D58D9-7EE2-492B-A050-454CE405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676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A84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Техническое задание">
            <a:extLst xmlns:a="http://schemas.openxmlformats.org/drawingml/2006/main">
              <a:ext uri="{FF2B5EF4-FFF2-40B4-BE49-F238E27FC236}">
                <a16:creationId xmlns:a16="http://schemas.microsoft.com/office/drawing/2014/main" id="{82BE4956-287F-443F-8385-D0F68A1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050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Техническое задание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DEF6-F260-4196-A2EB-2DCAB0C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6D5E954E-0CC5-41EF-8A0F-F3D897D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A84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Разработка и настройка">
            <a:extLst xmlns:a="http://schemas.openxmlformats.org/drawingml/2006/main">
              <a:ext uri="{FF2B5EF4-FFF2-40B4-BE49-F238E27FC236}">
                <a16:creationId xmlns:a16="http://schemas.microsoft.com/office/drawing/2014/main" id="{D27C2F59-8F16-42C4-8D1C-F350B78D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Разработка и настройка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ECB85-11A2-4C50-9B3B-99EFC2F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8669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2D41C63A-371B-43ED-9E4A-6BD54F6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76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A84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Обучение и тестирование">
            <a:extLst xmlns:a="http://schemas.openxmlformats.org/drawingml/2006/main">
              <a:ext uri="{FF2B5EF4-FFF2-40B4-BE49-F238E27FC236}">
                <a16:creationId xmlns:a16="http://schemas.microsoft.com/office/drawing/2014/main" id="{50C347B7-9658-42C3-A72F-B2E7CD5F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050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Обучение и тестирование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C0F69-2E72-4386-8255-52F2EA1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669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1317017A-4987-45C8-8B85-602A89D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A84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Опытная эксплуатация">
            <a:extLst xmlns:a="http://schemas.openxmlformats.org/drawingml/2006/main">
              <a:ext uri="{FF2B5EF4-FFF2-40B4-BE49-F238E27FC236}">
                <a16:creationId xmlns:a16="http://schemas.microsoft.com/office/drawing/2014/main" id="{6F752256-1D7B-4A80-B955-B51FEC7D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Опытная эксплуатация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0B56D-3F22-489D-9D98-95B8C38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6">
            <a:extLst xmlns:a="http://schemas.openxmlformats.org/drawingml/2006/main">
              <a:ext uri="{FF2B5EF4-FFF2-40B4-BE49-F238E27FC236}">
                <a16:creationId xmlns:a16="http://schemas.microsoft.com/office/drawing/2014/main" id="{EA311E52-2A6E-48DC-8BF0-2B32A82E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676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A8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A84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Промышленный запуск">
            <a:extLst xmlns:a="http://schemas.openxmlformats.org/drawingml/2006/main">
              <a:ext uri="{FF2B5EF4-FFF2-40B4-BE49-F238E27FC236}">
                <a16:creationId xmlns:a16="http://schemas.microsoft.com/office/drawing/2014/main" id="{7E0E8256-1100-445D-BE26-522DF046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050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Промышленный запуск</a:t>
            </a:r>
          </a:p>
        </p:txBody>
      </p:sp>
      <p:sp>
        <p:nvSpPr>
          <p:cNvPr id="21" name="После испытаний исправля">
            <a:extLst xmlns:a="http://schemas.openxmlformats.org/drawingml/2006/main">
              <a:ext uri="{FF2B5EF4-FFF2-40B4-BE49-F238E27FC236}">
                <a16:creationId xmlns:a16="http://schemas.microsoft.com/office/drawing/2014/main" id="{730CCE3E-C79A-4492-B445-C9255D1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После испытаний исправляют замечания и только затем подключают следующую учетную подсистему.</a:t>
            </a:r>
          </a:p>
        </p:txBody>
      </p:sp>
      <p:sp>
        <p:nvSpPr>
          <p:cNvPr id="22" name="Критерии перехода и отве">
            <a:extLst xmlns:a="http://schemas.openxmlformats.org/drawingml/2006/main">
              <a:ext uri="{FF2B5EF4-FFF2-40B4-BE49-F238E27FC236}">
                <a16:creationId xmlns:a16="http://schemas.microsoft.com/office/drawing/2014/main" id="{7FF2F8D3-DFE3-4512-88EA-13D18709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Критерии перехода и ответственность закрепляют в техническом задании.</a:t>
            </a:r>
          </a:p>
        </p:txBody>
      </p:sp>
    </p:spTree>
    <p:extLst>
      <p:ext uri="{BB962C8B-B14F-4D97-AF65-F5344CB8AC3E}">
        <p14:creationId xmlns:p14="http://schemas.microsoft.com/office/powerpoint/2010/main" val="894585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Подсистемы производствен">
            <a:extLst xmlns:a="http://schemas.openxmlformats.org/drawingml/2006/main">
              <a:ext uri="{FF2B5EF4-FFF2-40B4-BE49-F238E27FC236}">
                <a16:creationId xmlns:a16="http://schemas.microsoft.com/office/drawing/2014/main" id="{6080E43E-E50E-4420-B06D-68A9EE20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Подсистемы производственного учета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DFFA6-F5BA-4738-B2E0-13F507F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C140E007-54B2-47C0-863F-79CDEF8C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Снабжение и материалы">
            <a:extLst xmlns:a="http://schemas.openxmlformats.org/drawingml/2006/main">
              <a:ext uri="{FF2B5EF4-FFF2-40B4-BE49-F238E27FC236}">
                <a16:creationId xmlns:a16="http://schemas.microsoft.com/office/drawing/2014/main" id="{FEE482C5-F9AE-4A56-9B23-85A345D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Снабжение и материалы</a:t>
            </a:r>
          </a:p>
        </p:txBody>
      </p:sp>
      <p:sp>
        <p:nvSpPr>
          <p:cNvPr id="5" name="Поступления и взаиморасч">
            <a:extLst xmlns:a="http://schemas.openxmlformats.org/drawingml/2006/main">
              <a:ext uri="{FF2B5EF4-FFF2-40B4-BE49-F238E27FC236}">
                <a16:creationId xmlns:a16="http://schemas.microsoft.com/office/drawing/2014/main" id="{AE119A0B-0689-4079-926D-B22EB615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92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Поступления и взаиморасчеты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32A84-2F9F-4B8F-9F76-9338D55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Производство">
            <a:extLst xmlns:a="http://schemas.openxmlformats.org/drawingml/2006/main">
              <a:ext uri="{FF2B5EF4-FFF2-40B4-BE49-F238E27FC236}">
                <a16:creationId xmlns:a16="http://schemas.microsoft.com/office/drawing/2014/main" id="{39D94805-571D-4AB5-9EDF-688F1D3E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Производство</a:t>
            </a:r>
          </a:p>
        </p:txBody>
      </p:sp>
      <p:sp>
        <p:nvSpPr>
          <p:cNvPr id="8" name="План выпуска, нормы, фак">
            <a:extLst xmlns:a="http://schemas.openxmlformats.org/drawingml/2006/main">
              <a:ext uri="{FF2B5EF4-FFF2-40B4-BE49-F238E27FC236}">
                <a16:creationId xmlns:a16="http://schemas.microsoft.com/office/drawing/2014/main" id="{5F58EA93-9F54-45FC-8CD2-E4D3D03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План выпуска, нормы, фактический расход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1DC35-E950-42A1-85FF-EDBD6173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Склад готовой продукции">
            <a:extLst xmlns:a="http://schemas.openxmlformats.org/drawingml/2006/main">
              <a:ext uri="{FF2B5EF4-FFF2-40B4-BE49-F238E27FC236}">
                <a16:creationId xmlns:a16="http://schemas.microsoft.com/office/drawing/2014/main" id="{01C325B4-759E-4AD7-9A38-53DC6AAC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Склад готовой продукции</a:t>
            </a:r>
          </a:p>
        </p:txBody>
      </p:sp>
      <p:sp>
        <p:nvSpPr>
          <p:cNvPr id="11" name="Партии, перемещения и ос">
            <a:extLst xmlns:a="http://schemas.openxmlformats.org/drawingml/2006/main">
              <a:ext uri="{FF2B5EF4-FFF2-40B4-BE49-F238E27FC236}">
                <a16:creationId xmlns:a16="http://schemas.microsoft.com/office/drawing/2014/main" id="{6C4C2E89-C8F0-4ACA-92D3-E8DA598B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242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Партии, перемещения и остатки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5C6D6-5FB9-48CD-BC01-B781501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одажи и отгрузка">
            <a:extLst xmlns:a="http://schemas.openxmlformats.org/drawingml/2006/main">
              <a:ext uri="{FF2B5EF4-FFF2-40B4-BE49-F238E27FC236}">
                <a16:creationId xmlns:a16="http://schemas.microsoft.com/office/drawing/2014/main" id="{7B636D79-B4FD-4305-9A45-064145B0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Продажи и отгрузка</a:t>
            </a:r>
          </a:p>
        </p:txBody>
      </p:sp>
      <p:sp>
        <p:nvSpPr>
          <p:cNvPr id="14" name="Заказы, цены, реализация">
            <a:extLst xmlns:a="http://schemas.openxmlformats.org/drawingml/2006/main">
              <a:ext uri="{FF2B5EF4-FFF2-40B4-BE49-F238E27FC236}">
                <a16:creationId xmlns:a16="http://schemas.microsoft.com/office/drawing/2014/main" id="{E9727503-066E-43B9-8579-6FD6D91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767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Заказы, цены, реализация и возвраты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465B7-B9E6-4DB0-B55C-B284BCA6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Сквозная аналитика связы">
            <a:extLst xmlns:a="http://schemas.openxmlformats.org/drawingml/2006/main">
              <a:ext uri="{FF2B5EF4-FFF2-40B4-BE49-F238E27FC236}">
                <a16:creationId xmlns:a16="http://schemas.microsoft.com/office/drawing/2014/main" id="{CCC07E8C-1010-4659-B2E8-5A4EF7E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Сквозная аналитика связывает документы, остатки и финансовые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421979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арплата, кадры и эконом">
            <a:extLst xmlns:a="http://schemas.openxmlformats.org/drawingml/2006/main">
              <a:ext uri="{FF2B5EF4-FFF2-40B4-BE49-F238E27FC236}">
                <a16:creationId xmlns:a16="http://schemas.microsoft.com/office/drawing/2014/main" id="{084E002C-C503-41D3-BBB7-5D097CE9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Зарплата, кадры и экономическая целесообразность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5D9DF-5B5A-4485-8AEC-615B9068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F5BD98C5-EA28-4AB2-A335-FBEB3AF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Кадровый учет и расчет з">
            <a:extLst xmlns:a="http://schemas.openxmlformats.org/drawingml/2006/main">
              <a:ext uri="{FF2B5EF4-FFF2-40B4-BE49-F238E27FC236}">
                <a16:creationId xmlns:a16="http://schemas.microsoft.com/office/drawing/2014/main" id="{9AC824DD-3CA1-419F-8BFA-54A4423E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Кадровый учет и расчет зарплаты могут работать в отдельной конфигурации с передачей итогов в основную систему.</a:t>
            </a:r>
          </a:p>
        </p:txBody>
      </p:sp>
      <p:sp>
        <p:nvSpPr>
          <p:cNvPr id="5" name="Затраты проекта">
            <a:extLst xmlns:a="http://schemas.openxmlformats.org/drawingml/2006/main">
              <a:ext uri="{FF2B5EF4-FFF2-40B4-BE49-F238E27FC236}">
                <a16:creationId xmlns:a16="http://schemas.microsoft.com/office/drawing/2014/main" id="{B35CE0A9-C3C6-4225-92CF-3B2D3702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Затраты проекта</a:t>
            </a:r>
          </a:p>
        </p:txBody>
      </p:sp>
      <p:sp>
        <p:nvSpPr>
          <p:cNvPr id="6" name="Оборудование и программы">
            <a:extLst xmlns:a="http://schemas.openxmlformats.org/drawingml/2006/main">
              <a:ext uri="{FF2B5EF4-FFF2-40B4-BE49-F238E27FC236}">
                <a16:creationId xmlns:a16="http://schemas.microsoft.com/office/drawing/2014/main" id="{EB33F6D2-2782-453F-A77A-06077CA8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Оборудование и программы</a:t>
            </a:r>
          </a:p>
        </p:txBody>
      </p:sp>
      <p:sp>
        <p:nvSpPr>
          <p:cNvPr id="7" name="Настройка и ввод в экспл">
            <a:extLst xmlns:a="http://schemas.openxmlformats.org/drawingml/2006/main">
              <a:ext uri="{FF2B5EF4-FFF2-40B4-BE49-F238E27FC236}">
                <a16:creationId xmlns:a16="http://schemas.microsoft.com/office/drawing/2014/main" id="{9C50A36C-7F1B-48A3-9E18-D70828C0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Настройка и ввод в эксплуатацию</a:t>
            </a:r>
          </a:p>
        </p:txBody>
      </p:sp>
      <p:sp>
        <p:nvSpPr>
          <p:cNvPr id="8" name="Сопровождение">
            <a:extLst xmlns:a="http://schemas.openxmlformats.org/drawingml/2006/main">
              <a:ext uri="{FF2B5EF4-FFF2-40B4-BE49-F238E27FC236}">
                <a16:creationId xmlns:a16="http://schemas.microsoft.com/office/drawing/2014/main" id="{C109E87B-1478-4EA5-85C5-70330EC8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Сопровождение</a:t>
            </a:r>
          </a:p>
        </p:txBody>
      </p:sp>
      <p:sp>
        <p:nvSpPr>
          <p:cNvPr id="9" name="Ожидаемые результаты">
            <a:extLst xmlns:a="http://schemas.openxmlformats.org/drawingml/2006/main">
              <a:ext uri="{FF2B5EF4-FFF2-40B4-BE49-F238E27FC236}">
                <a16:creationId xmlns:a16="http://schemas.microsoft.com/office/drawing/2014/main" id="{55F04B6D-6F28-4DF9-B97C-8D066AD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8A8A"/>
                </a:solidFill>
                <a:latin typeface="Arial"/>
                <a:ea typeface="Arial"/>
                <a:cs typeface="Arial"/>
              </a:rPr>
              <a:t>Ожидаемые результаты</a:t>
            </a:r>
          </a:p>
        </p:txBody>
      </p:sp>
      <p:sp>
        <p:nvSpPr>
          <p:cNvPr id="10" name="Меньше потерь и ошибок у">
            <a:extLst xmlns:a="http://schemas.openxmlformats.org/drawingml/2006/main">
              <a:ext uri="{FF2B5EF4-FFF2-40B4-BE49-F238E27FC236}">
                <a16:creationId xmlns:a16="http://schemas.microsoft.com/office/drawing/2014/main" id="{5CBE4998-BF05-4833-ACD1-6AC10D0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Меньше потерь и ошибок учета</a:t>
            </a:r>
          </a:p>
        </p:txBody>
      </p:sp>
      <p:sp>
        <p:nvSpPr>
          <p:cNvPr id="11" name="Точнее запасы и планиров">
            <a:extLst xmlns:a="http://schemas.openxmlformats.org/drawingml/2006/main">
              <a:ext uri="{FF2B5EF4-FFF2-40B4-BE49-F238E27FC236}">
                <a16:creationId xmlns:a16="http://schemas.microsoft.com/office/drawing/2014/main" id="{04408287-5D87-4AA1-8D2F-0DE47CFC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Точнее запасы и планирование закупок</a:t>
            </a:r>
          </a:p>
        </p:txBody>
      </p:sp>
      <p:sp>
        <p:nvSpPr>
          <p:cNvPr id="12" name="Быстрее обработка информ">
            <a:extLst xmlns:a="http://schemas.openxmlformats.org/drawingml/2006/main">
              <a:ext uri="{FF2B5EF4-FFF2-40B4-BE49-F238E27FC236}">
                <a16:creationId xmlns:a16="http://schemas.microsoft.com/office/drawing/2014/main" id="{F72B1F8C-9C88-4F36-AA6F-9803A05B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Быстрее обработка информации и отчетность</a:t>
            </a:r>
          </a:p>
        </p:txBody>
      </p:sp>
      <p:sp>
        <p:nvSpPr>
          <p:cNvPr id="13" name="Эффект оценивают по факт">
            <a:extLst xmlns:a="http://schemas.openxmlformats.org/drawingml/2006/main">
              <a:ext uri="{FF2B5EF4-FFF2-40B4-BE49-F238E27FC236}">
                <a16:creationId xmlns:a16="http://schemas.microsoft.com/office/drawing/2014/main" id="{686B8D8B-568B-4185-8AEB-FF449B63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Эффект оценивают по фактическим затратам и измеримым изменениям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1842255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2026-10-24T06:07:00.7970000Z</dcterms:created>
  <dcterms:modified xsi:type="dcterms:W3CDTF">2026-10-24T06:07:00.7970000Z</dcterms:modified>
</coreProperties>
</file>